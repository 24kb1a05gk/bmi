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502920"/>
            <a:ext cx="1920240" cy="1920240"/>
          </a:xfrm>
          <a:prstGeom prst="ellipse">
            <a:avLst/>
          </a:prstGeom>
          <a:solidFill>
            <a:srgbClr val="2C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2011680"/>
            <a:ext cx="1051560" cy="1051560"/>
          </a:xfrm>
          <a:prstGeom prst="ellipse">
            <a:avLst/>
          </a:prstGeom>
          <a:solidFill>
            <a:srgbClr val="E7B1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55279" y="3383280"/>
            <a:ext cx="658368" cy="658368"/>
          </a:xfrm>
          <a:prstGeom prst="ellipse">
            <a:avLst/>
          </a:prstGeom>
          <a:solidFill>
            <a:srgbClr val="68A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62179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800" b="1">
                <a:solidFill>
                  <a:srgbClr val="DEF2E8"/>
                </a:solidFill>
                <a:latin typeface="Aptos"/>
              </a:rPr>
              <a:t>NUTRILIFE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7863840" cy="1645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Smart Personalized
Healthy Meal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86200"/>
            <a:ext cx="694944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600" b="0">
                <a:solidFill>
                  <a:srgbClr val="CEE0D8"/>
                </a:solidFill>
                <a:latin typeface="Aptos"/>
              </a:rPr>
              <a:t>A web-based concept for making healthier food choices easier and more personal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06440"/>
            <a:ext cx="3657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000" b="1">
                <a:solidFill>
                  <a:srgbClr val="E7B154"/>
                </a:solidFill>
                <a:latin typeface="Aptos"/>
              </a:rPr>
              <a:t>PROJECT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144768"/>
            <a:ext cx="5486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000" b="0">
                <a:solidFill>
                  <a:srgbClr val="B1C6BE"/>
                </a:solidFill>
                <a:latin typeface="Aptos"/>
              </a:rPr>
              <a:t>Website: bmi-chi-black.vercel.app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88136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2900" b="1">
                <a:solidFill>
                  <a:srgbClr val="132A32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24128"/>
            <a:ext cx="1069848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200" b="0">
                <a:solidFill>
                  <a:srgbClr val="667775"/>
                </a:solidFill>
                <a:latin typeface="Aptos"/>
              </a:rPr>
              <a:t>What NutriLife is designed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658368" cy="50292"/>
          </a:xfrm>
          <a:prstGeom prst="rect">
            <a:avLst/>
          </a:prstGeom>
          <a:solidFill>
            <a:srgbClr val="2C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667775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149840" cy="10515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2200" b="1">
                <a:solidFill>
                  <a:srgbClr val="132A32"/>
                </a:solidFill>
                <a:latin typeface="Aptos"/>
              </a:rPr>
              <a:t>NutriLife is presented as a smart, personalized healthy meal-planning website. Its central idea is to help users move from general nutrition goals to practical meal choices.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246120"/>
            <a:ext cx="32461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3246120"/>
            <a:ext cx="73152" cy="1920240"/>
          </a:xfrm>
          <a:prstGeom prst="rect">
            <a:avLst/>
          </a:prstGeom>
          <a:solidFill>
            <a:srgbClr val="2C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2834639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700" b="1">
                <a:solidFill>
                  <a:srgbClr val="132A32"/>
                </a:solidFill>
                <a:latin typeface="Aptos"/>
              </a:rPr>
              <a:t>PERSONAL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04487"/>
            <a:ext cx="2834639" cy="11155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250" b="0">
                <a:solidFill>
                  <a:srgbClr val="667775"/>
                </a:solidFill>
                <a:latin typeface="Aptos"/>
              </a:rPr>
              <a:t>Meal suggestions can be aligned with a user's profile, preferences and goals.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246120"/>
            <a:ext cx="32461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3246120"/>
            <a:ext cx="73152" cy="1920240"/>
          </a:xfrm>
          <a:prstGeom prst="rect">
            <a:avLst/>
          </a:prstGeom>
          <a:solidFill>
            <a:srgbClr val="2C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429000"/>
            <a:ext cx="2834639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700" b="1">
                <a:solidFill>
                  <a:srgbClr val="132A32"/>
                </a:solidFill>
                <a:latin typeface="Aptos"/>
              </a:rPr>
              <a:t>PRACTICAL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904487"/>
            <a:ext cx="2834639" cy="11155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250" b="0">
                <a:solidFill>
                  <a:srgbClr val="667775"/>
                </a:solidFill>
                <a:latin typeface="Aptos"/>
              </a:rPr>
              <a:t>A meal-planning approach can make everyday food decisions easier.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3246120"/>
            <a:ext cx="32461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3246120"/>
            <a:ext cx="73152" cy="1920240"/>
          </a:xfrm>
          <a:prstGeom prst="rect">
            <a:avLst/>
          </a:prstGeom>
          <a:solidFill>
            <a:srgbClr val="2C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429000"/>
            <a:ext cx="2834639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700" b="1">
                <a:solidFill>
                  <a:srgbClr val="132A32"/>
                </a:solidFill>
                <a:latin typeface="Aptos"/>
              </a:rPr>
              <a:t>HEALTH-FOCUSED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904487"/>
            <a:ext cx="2834639" cy="11155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250" b="0">
                <a:solidFill>
                  <a:srgbClr val="667775"/>
                </a:solidFill>
                <a:latin typeface="Aptos"/>
              </a:rPr>
              <a:t>Encourages balanced choices and more mindful eating habits.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46520"/>
            <a:ext cx="47548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800" b="1">
                <a:solidFill>
                  <a:srgbClr val="667775"/>
                </a:solidFill>
                <a:latin typeface="Aptos"/>
              </a:rPr>
              <a:t>NUTRILIFE  •  PROJECT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88136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2900" b="1">
                <a:solidFill>
                  <a:srgbClr val="132A32"/>
                </a:solidFill>
                <a:latin typeface="Aptos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24128"/>
            <a:ext cx="1069848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200" b="0">
                <a:solidFill>
                  <a:srgbClr val="667775"/>
                </a:solidFill>
                <a:latin typeface="Aptos"/>
              </a:rPr>
              <a:t>Why a personalized meal planner is useful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658368" cy="50292"/>
          </a:xfrm>
          <a:prstGeom prst="rect">
            <a:avLst/>
          </a:prstGeom>
          <a:solidFill>
            <a:srgbClr val="2C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667775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10332720" cy="42062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28373A"/>
                </a:solidFill>
                <a:latin typeface="Aptos"/>
              </a:defRPr>
            </a:pPr>
            <a:r>
              <a:t>People often know they want to eat healthier, but are unsure what to eat each day.</a:t>
            </a:r>
          </a:p>
          <a:p>
            <a:pPr>
              <a:spcAft>
                <a:spcPts val="1800"/>
              </a:spcAft>
              <a:defRPr sz="2000">
                <a:solidFill>
                  <a:srgbClr val="28373A"/>
                </a:solidFill>
                <a:latin typeface="Aptos"/>
              </a:defRPr>
            </a:pPr>
            <a:r>
              <a:t>Generic diet plans may not reflect individual goals, food preferences or routines.</a:t>
            </a:r>
          </a:p>
          <a:p>
            <a:pPr>
              <a:spcAft>
                <a:spcPts val="1800"/>
              </a:spcAft>
              <a:defRPr sz="2000">
                <a:solidFill>
                  <a:srgbClr val="28373A"/>
                </a:solidFill>
                <a:latin typeface="Aptos"/>
              </a:defRPr>
            </a:pPr>
            <a:r>
              <a:t>Planning meals consistently can take time and effort.</a:t>
            </a:r>
          </a:p>
          <a:p>
            <a:pPr>
              <a:spcAft>
                <a:spcPts val="1800"/>
              </a:spcAft>
              <a:defRPr sz="2000">
                <a:solidFill>
                  <a:srgbClr val="28373A"/>
                </a:solidFill>
                <a:latin typeface="Aptos"/>
              </a:defRPr>
            </a:pPr>
            <a:r>
              <a:t>A simple digital guide can bring personal details and meal ideas into one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47548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800" b="1">
                <a:solidFill>
                  <a:srgbClr val="667775"/>
                </a:solidFill>
                <a:latin typeface="Aptos"/>
              </a:rPr>
              <a:t>NUTRILIFE  •  PROJECT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88136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2900" b="1">
                <a:solidFill>
                  <a:srgbClr val="132A32"/>
                </a:solidFill>
                <a:latin typeface="Aptos"/>
              </a:rP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24128"/>
            <a:ext cx="1069848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200" b="0">
                <a:solidFill>
                  <a:srgbClr val="667775"/>
                </a:solidFill>
                <a:latin typeface="Aptos"/>
              </a:rPr>
              <a:t>The outcomes the project aims to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658368" cy="50292"/>
          </a:xfrm>
          <a:prstGeom prst="rect">
            <a:avLst/>
          </a:prstGeom>
          <a:solidFill>
            <a:srgbClr val="2C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667775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49834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28800"/>
            <a:ext cx="73152" cy="1600200"/>
          </a:xfrm>
          <a:prstGeom prst="rect">
            <a:avLst/>
          </a:prstGeom>
          <a:solidFill>
            <a:srgbClr val="2C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457200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700" b="1">
                <a:solidFill>
                  <a:srgbClr val="132A32"/>
                </a:solidFill>
                <a:latin typeface="Aptos"/>
              </a:rPr>
              <a:t>Personalization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87168"/>
            <a:ext cx="4572000" cy="7955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250" b="0">
                <a:solidFill>
                  <a:srgbClr val="667775"/>
                </a:solidFill>
                <a:latin typeface="Aptos"/>
              </a:rPr>
              <a:t>Use user-provided details and goals to guide meal suggestions.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49834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73152" cy="1600200"/>
          </a:xfrm>
          <a:prstGeom prst="rect">
            <a:avLst/>
          </a:prstGeom>
          <a:solidFill>
            <a:srgbClr val="2C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57200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700" b="1">
                <a:solidFill>
                  <a:srgbClr val="132A32"/>
                </a:solidFill>
                <a:latin typeface="Aptos"/>
              </a:rPr>
              <a:t>Meal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87168"/>
            <a:ext cx="4572000" cy="7955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250" b="0">
                <a:solidFill>
                  <a:srgbClr val="667775"/>
                </a:solidFill>
                <a:latin typeface="Aptos"/>
              </a:rPr>
              <a:t>Organize food ideas into a clearer daily or structured plan.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886200"/>
            <a:ext cx="49834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3886200"/>
            <a:ext cx="73152" cy="1600200"/>
          </a:xfrm>
          <a:prstGeom prst="rect">
            <a:avLst/>
          </a:prstGeom>
          <a:solidFill>
            <a:srgbClr val="2C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069080"/>
            <a:ext cx="457200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700" b="1">
                <a:solidFill>
                  <a:srgbClr val="132A32"/>
                </a:solidFill>
                <a:latin typeface="Aptos"/>
              </a:rPr>
              <a:t>Healthy habits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544568"/>
            <a:ext cx="4572000" cy="7955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250" b="0">
                <a:solidFill>
                  <a:srgbClr val="667775"/>
                </a:solidFill>
                <a:latin typeface="Aptos"/>
              </a:rPr>
              <a:t>Support balanced eating and more consistent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886200"/>
            <a:ext cx="49834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886200"/>
            <a:ext cx="73152" cy="1600200"/>
          </a:xfrm>
          <a:prstGeom prst="rect">
            <a:avLst/>
          </a:prstGeom>
          <a:solidFill>
            <a:srgbClr val="2C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069080"/>
            <a:ext cx="457200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700" b="1">
                <a:solidFill>
                  <a:srgbClr val="132A32"/>
                </a:solidFill>
                <a:latin typeface="Aptos"/>
              </a:rPr>
              <a:t>Usability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544568"/>
            <a:ext cx="4572000" cy="7955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250" b="0">
                <a:solidFill>
                  <a:srgbClr val="667775"/>
                </a:solidFill>
                <a:latin typeface="Aptos"/>
              </a:rPr>
              <a:t>Keep the experience straightforward and accessible through a website.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46520"/>
            <a:ext cx="47548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800" b="1">
                <a:solidFill>
                  <a:srgbClr val="667775"/>
                </a:solidFill>
                <a:latin typeface="Aptos"/>
              </a:rPr>
              <a:t>NUTRILIFE  •  PROJECT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88136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2900" b="1">
                <a:solidFill>
                  <a:srgbClr val="132A32"/>
                </a:solidFill>
                <a:latin typeface="Aptos"/>
              </a:rPr>
              <a:t>How the Website Can Be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24128"/>
            <a:ext cx="1069848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200" b="0">
                <a:solidFill>
                  <a:srgbClr val="667775"/>
                </a:solidFill>
                <a:latin typeface="Aptos"/>
              </a:rPr>
              <a:t>A simple user journey for personalized planning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658368" cy="50292"/>
          </a:xfrm>
          <a:prstGeom prst="rect">
            <a:avLst/>
          </a:prstGeom>
          <a:solidFill>
            <a:srgbClr val="2C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667775"/>
                </a:solidFill>
                <a:latin typeface="Aptos"/>
              </a:rPr>
              <a:t>05</a:t>
            </a:r>
          </a:p>
        </p:txBody>
      </p:sp>
      <p:sp>
        <p:nvSpPr>
          <p:cNvPr id="6" name="Oval 5"/>
          <p:cNvSpPr/>
          <p:nvPr/>
        </p:nvSpPr>
        <p:spPr>
          <a:xfrm>
            <a:off x="1216152" y="2011680"/>
            <a:ext cx="658368" cy="658368"/>
          </a:xfrm>
          <a:prstGeom prst="ellipse">
            <a:avLst/>
          </a:prstGeom>
          <a:solidFill>
            <a:srgbClr val="2C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6152" y="2185416"/>
            <a:ext cx="658368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16916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32A32"/>
                </a:solidFill>
                <a:latin typeface="Aptos"/>
              </a:rPr>
              <a:t>Open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37560"/>
            <a:ext cx="2057400" cy="10058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50" b="0">
                <a:solidFill>
                  <a:srgbClr val="667775"/>
                </a:solidFill>
                <a:latin typeface="Aptos"/>
              </a:rPr>
              <a:t>Visit the NutriLife website.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5688" y="2157984"/>
            <a:ext cx="5029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E7B154"/>
                </a:solidFill>
                <a:latin typeface="Aptos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3520440" y="2011680"/>
            <a:ext cx="658368" cy="658368"/>
          </a:xfrm>
          <a:prstGeom prst="ellipse">
            <a:avLst/>
          </a:prstGeom>
          <a:solidFill>
            <a:srgbClr val="2C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185416"/>
            <a:ext cx="658368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880360"/>
            <a:ext cx="16916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32A32"/>
                </a:solidFill>
                <a:latin typeface="Aptos"/>
              </a:rPr>
              <a:t>Enter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3337560"/>
            <a:ext cx="2057400" cy="10058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50" b="0">
                <a:solidFill>
                  <a:srgbClr val="667775"/>
                </a:solidFill>
                <a:latin typeface="Aptos"/>
              </a:rPr>
              <a:t>Provide the information requested by the planner.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157984"/>
            <a:ext cx="5029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E7B154"/>
                </a:solidFill>
                <a:latin typeface="Aptos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5824728" y="2011680"/>
            <a:ext cx="658368" cy="658368"/>
          </a:xfrm>
          <a:prstGeom prst="ellipse">
            <a:avLst/>
          </a:prstGeom>
          <a:solidFill>
            <a:srgbClr val="2C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4728" y="2185416"/>
            <a:ext cx="658368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0096" y="2880360"/>
            <a:ext cx="16916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32A32"/>
                </a:solidFill>
                <a:latin typeface="Aptos"/>
              </a:rPr>
              <a:t>Set goals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3337560"/>
            <a:ext cx="2057400" cy="10058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50" b="0">
                <a:solidFill>
                  <a:srgbClr val="667775"/>
                </a:solidFill>
                <a:latin typeface="Aptos"/>
              </a:rPr>
              <a:t>Choose the intended health or meal-planning goal.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84264" y="2157984"/>
            <a:ext cx="5029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E7B154"/>
                </a:solidFill>
                <a:latin typeface="Aptos"/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8129016" y="2011680"/>
            <a:ext cx="658368" cy="658368"/>
          </a:xfrm>
          <a:prstGeom prst="ellipse">
            <a:avLst/>
          </a:prstGeom>
          <a:solidFill>
            <a:srgbClr val="2C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9016" y="2185416"/>
            <a:ext cx="658368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44384" y="2880360"/>
            <a:ext cx="16916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32A32"/>
                </a:solidFill>
                <a:latin typeface="Aptos"/>
              </a:rPr>
              <a:t>Explore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1504" y="3337560"/>
            <a:ext cx="2057400" cy="10058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50" b="0">
                <a:solidFill>
                  <a:srgbClr val="667775"/>
                </a:solidFill>
                <a:latin typeface="Aptos"/>
              </a:rPr>
              <a:t>Review the suggested meal ideas and plan.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157984"/>
            <a:ext cx="5029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E7B154"/>
                </a:solidFill>
                <a:latin typeface="Aptos"/>
              </a:rP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10433304" y="2011680"/>
            <a:ext cx="658368" cy="658368"/>
          </a:xfrm>
          <a:prstGeom prst="ellipse">
            <a:avLst/>
          </a:prstGeom>
          <a:solidFill>
            <a:srgbClr val="2C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33304" y="2185416"/>
            <a:ext cx="658368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8672" y="2880360"/>
            <a:ext cx="16916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132A32"/>
                </a:solidFill>
                <a:latin typeface="Aptos"/>
              </a:rPr>
              <a:t>Apply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3337560"/>
            <a:ext cx="2057400" cy="10058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150" b="0">
                <a:solidFill>
                  <a:srgbClr val="667775"/>
                </a:solidFill>
                <a:latin typeface="Aptos"/>
              </a:rPr>
              <a:t>Use the plan as a guide for everyday food choices.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257800"/>
            <a:ext cx="104241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000" b="0">
                <a:solidFill>
                  <a:srgbClr val="667775"/>
                </a:solidFill>
                <a:latin typeface="Aptos"/>
              </a:rPr>
              <a:t>Note: This flow is a presentation-level illustration; confirm the exact input fields and screens against the live website.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446520"/>
            <a:ext cx="47548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800" b="1">
                <a:solidFill>
                  <a:srgbClr val="667775"/>
                </a:solidFill>
                <a:latin typeface="Aptos"/>
              </a:rPr>
              <a:t>NUTRILIFE  •  PROJECT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88136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2900" b="1">
                <a:solidFill>
                  <a:srgbClr val="132A32"/>
                </a:solidFill>
                <a:latin typeface="Aptos"/>
              </a:rPr>
              <a:t>Key Feature Areas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24128"/>
            <a:ext cx="1069848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200" b="0">
                <a:solidFill>
                  <a:srgbClr val="667775"/>
                </a:solidFill>
                <a:latin typeface="Aptos"/>
              </a:rPr>
              <a:t>Core capabilities implied by a personalized meal-planning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658368" cy="50292"/>
          </a:xfrm>
          <a:prstGeom prst="rect">
            <a:avLst/>
          </a:prstGeom>
          <a:solidFill>
            <a:srgbClr val="2C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667775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28800"/>
            <a:ext cx="73152" cy="1645920"/>
          </a:xfrm>
          <a:prstGeom prst="rect">
            <a:avLst/>
          </a:prstGeom>
          <a:solidFill>
            <a:srgbClr val="2C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2834639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700" b="1">
                <a:solidFill>
                  <a:srgbClr val="132A32"/>
                </a:solidFill>
                <a:latin typeface="Aptos"/>
              </a:rPr>
              <a:t>User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87168"/>
            <a:ext cx="2834639" cy="8412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250" b="0">
                <a:solidFill>
                  <a:srgbClr val="667775"/>
                </a:solidFill>
                <a:latin typeface="Aptos"/>
              </a:rPr>
              <a:t>A place to capture relevant user details for tailoring the experience.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828800"/>
            <a:ext cx="73152" cy="1645920"/>
          </a:xfrm>
          <a:prstGeom prst="rect">
            <a:avLst/>
          </a:prstGeom>
          <a:solidFill>
            <a:srgbClr val="2C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011680"/>
            <a:ext cx="2834639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700" b="1">
                <a:solidFill>
                  <a:srgbClr val="132A32"/>
                </a:solidFill>
                <a:latin typeface="Aptos"/>
              </a:rPr>
              <a:t>Goal-based guidance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487168"/>
            <a:ext cx="2834639" cy="8412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250" b="0">
                <a:solidFill>
                  <a:srgbClr val="667775"/>
                </a:solidFill>
                <a:latin typeface="Aptos"/>
              </a:rPr>
              <a:t>Meal choices organized around the user's stated objectives.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82880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828800"/>
            <a:ext cx="73152" cy="1645920"/>
          </a:xfrm>
          <a:prstGeom prst="rect">
            <a:avLst/>
          </a:prstGeom>
          <a:solidFill>
            <a:srgbClr val="2C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011680"/>
            <a:ext cx="2834639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700" b="1">
                <a:solidFill>
                  <a:srgbClr val="132A32"/>
                </a:solidFill>
                <a:latin typeface="Aptos"/>
              </a:rPr>
              <a:t>Meal suggestions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487168"/>
            <a:ext cx="2834639" cy="8412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250" b="0">
                <a:solidFill>
                  <a:srgbClr val="667775"/>
                </a:solidFill>
                <a:latin typeface="Aptos"/>
              </a:rPr>
              <a:t>Ideas that help translate nutrition goals into everyday food choices.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51760" y="388620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51760" y="3886200"/>
            <a:ext cx="73152" cy="1645920"/>
          </a:xfrm>
          <a:prstGeom prst="rect">
            <a:avLst/>
          </a:prstGeom>
          <a:solidFill>
            <a:srgbClr val="2C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4069080"/>
            <a:ext cx="2834639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700" b="1">
                <a:solidFill>
                  <a:srgbClr val="132A32"/>
                </a:solidFill>
                <a:latin typeface="Aptos"/>
              </a:rPr>
              <a:t>Simple 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4544568"/>
            <a:ext cx="2834639" cy="8412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250" b="0">
                <a:solidFill>
                  <a:srgbClr val="667775"/>
                </a:solidFill>
                <a:latin typeface="Aptos"/>
              </a:rPr>
              <a:t>A web interface that makes the planning process approachable.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88620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886200"/>
            <a:ext cx="73152" cy="1645920"/>
          </a:xfrm>
          <a:prstGeom prst="rect">
            <a:avLst/>
          </a:prstGeom>
          <a:solidFill>
            <a:srgbClr val="2C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069080"/>
            <a:ext cx="2834639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700" b="1">
                <a:solidFill>
                  <a:srgbClr val="132A32"/>
                </a:solidFill>
                <a:latin typeface="Aptos"/>
              </a:rPr>
              <a:t>Actionable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544568"/>
            <a:ext cx="2834639" cy="8412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250" b="0">
                <a:solidFill>
                  <a:srgbClr val="667775"/>
                </a:solidFill>
                <a:latin typeface="Aptos"/>
              </a:rPr>
              <a:t>A plan users can review and use as a starting point.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446520"/>
            <a:ext cx="47548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800" b="1">
                <a:solidFill>
                  <a:srgbClr val="667775"/>
                </a:solidFill>
                <a:latin typeface="Aptos"/>
              </a:rPr>
              <a:t>NUTRILIFE  •  PROJECT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88136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2900" b="1">
                <a:solidFill>
                  <a:srgbClr val="132A32"/>
                </a:solidFill>
                <a:latin typeface="Aptos"/>
              </a:rPr>
              <a:t>Benefits and Expected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24128"/>
            <a:ext cx="1069848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200" b="0">
                <a:solidFill>
                  <a:srgbClr val="667775"/>
                </a:solidFill>
                <a:latin typeface="Aptos"/>
              </a:rPr>
              <a:t>Value for users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658368" cy="50292"/>
          </a:xfrm>
          <a:prstGeom prst="rect">
            <a:avLst/>
          </a:prstGeom>
          <a:solidFill>
            <a:srgbClr val="2C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667775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332720" cy="42062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8373A"/>
                </a:solidFill>
                <a:latin typeface="Aptos"/>
              </a:defRPr>
            </a:pPr>
            <a:r>
              <a:t>Convenience: reduces the effort involved in deciding what to eat.</a:t>
            </a:r>
          </a:p>
          <a:p>
            <a:pPr>
              <a:spcAft>
                <a:spcPts val="1500"/>
              </a:spcAft>
              <a:defRPr sz="1900">
                <a:solidFill>
                  <a:srgbClr val="28373A"/>
                </a:solidFill>
                <a:latin typeface="Aptos"/>
              </a:defRPr>
            </a:pPr>
            <a:r>
              <a:t>Relevance: supports meal ideas that are more aligned with personal goals.</a:t>
            </a:r>
          </a:p>
          <a:p>
            <a:pPr>
              <a:spcAft>
                <a:spcPts val="1500"/>
              </a:spcAft>
              <a:defRPr sz="1900">
                <a:solidFill>
                  <a:srgbClr val="28373A"/>
                </a:solidFill>
                <a:latin typeface="Aptos"/>
              </a:defRPr>
            </a:pPr>
            <a:r>
              <a:t>Consistency: gives users a structure they can return to while planning meals.</a:t>
            </a:r>
          </a:p>
          <a:p>
            <a:pPr>
              <a:spcAft>
                <a:spcPts val="1500"/>
              </a:spcAft>
              <a:defRPr sz="1900">
                <a:solidFill>
                  <a:srgbClr val="28373A"/>
                </a:solidFill>
                <a:latin typeface="Aptos"/>
              </a:defRPr>
            </a:pPr>
            <a:r>
              <a:t>Awareness: encourages users to think more intentionally about food choices.</a:t>
            </a:r>
          </a:p>
          <a:p>
            <a:pPr>
              <a:spcAft>
                <a:spcPts val="1500"/>
              </a:spcAft>
              <a:defRPr sz="1900">
                <a:solidFill>
                  <a:srgbClr val="28373A"/>
                </a:solidFill>
                <a:latin typeface="Aptos"/>
              </a:defRPr>
            </a:pPr>
            <a:r>
              <a:t>Accessibility: makes meal-planning guidance available through a web browser.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47548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800" b="1">
                <a:solidFill>
                  <a:srgbClr val="667775"/>
                </a:solidFill>
                <a:latin typeface="Aptos"/>
              </a:rPr>
              <a:t>NUTRILIFE  •  PROJECT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88136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2900" b="1">
                <a:solidFill>
                  <a:srgbClr val="132A32"/>
                </a:solidFill>
                <a:latin typeface="Aptos"/>
              </a:rPr>
              <a:t>System Design and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24128"/>
            <a:ext cx="1069848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200" b="0">
                <a:solidFill>
                  <a:srgbClr val="667775"/>
                </a:solidFill>
                <a:latin typeface="Aptos"/>
              </a:rPr>
              <a:t>High-level view; verify implementation details before presenting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658368" cy="50292"/>
          </a:xfrm>
          <a:prstGeom prst="rect">
            <a:avLst/>
          </a:prstGeom>
          <a:solidFill>
            <a:srgbClr val="2C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667775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32461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28800"/>
            <a:ext cx="73152" cy="1874519"/>
          </a:xfrm>
          <a:prstGeom prst="rect">
            <a:avLst/>
          </a:prstGeom>
          <a:solidFill>
            <a:srgbClr val="2C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2834639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700" b="1">
                <a:solidFill>
                  <a:srgbClr val="132A32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87168"/>
            <a:ext cx="2834639" cy="10698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250" b="0">
                <a:solidFill>
                  <a:srgbClr val="667775"/>
                </a:solidFill>
                <a:latin typeface="Aptos"/>
              </a:rPr>
              <a:t>The website interface where users interact with the planner.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2461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828800"/>
            <a:ext cx="73152" cy="1874519"/>
          </a:xfrm>
          <a:prstGeom prst="rect">
            <a:avLst/>
          </a:prstGeom>
          <a:solidFill>
            <a:srgbClr val="2C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011680"/>
            <a:ext cx="2834639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700" b="1">
                <a:solidFill>
                  <a:srgbClr val="132A32"/>
                </a:solidFill>
                <a:latin typeface="Aptos"/>
              </a:rPr>
              <a:t>Planning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487168"/>
            <a:ext cx="2834639" cy="10698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250" b="0">
                <a:solidFill>
                  <a:srgbClr val="667775"/>
                </a:solidFill>
                <a:latin typeface="Aptos"/>
              </a:rPr>
              <a:t>The application logic that interprets inputs and prepares meal-planning output.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828800"/>
            <a:ext cx="32461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828800"/>
            <a:ext cx="73152" cy="1874519"/>
          </a:xfrm>
          <a:prstGeom prst="rect">
            <a:avLst/>
          </a:prstGeom>
          <a:solidFill>
            <a:srgbClr val="2C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011680"/>
            <a:ext cx="2834639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700" b="1">
                <a:solidFill>
                  <a:srgbClr val="132A32"/>
                </a:solidFill>
                <a:latin typeface="Aptos"/>
              </a:rPr>
              <a:t>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487168"/>
            <a:ext cx="2834639" cy="10698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250" b="0">
                <a:solidFill>
                  <a:srgbClr val="667775"/>
                </a:solidFill>
                <a:latin typeface="Aptos"/>
              </a:rPr>
              <a:t>The website is hosted at the supplied Vercel address.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51960"/>
            <a:ext cx="1024128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300" b="0">
                <a:solidFill>
                  <a:srgbClr val="667775"/>
                </a:solidFill>
                <a:latin typeface="Aptos"/>
              </a:rPr>
              <a:t>The live page did not expose readable technical documentation during preparation. Add the exact framework, database, APIs and algorithms only if confirmed from your source code or project report.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46520"/>
            <a:ext cx="47548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800" b="1">
                <a:solidFill>
                  <a:srgbClr val="667775"/>
                </a:solidFill>
                <a:latin typeface="Aptos"/>
              </a:rPr>
              <a:t>NUTRILIFE  •  PROJECT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10881360" cy="5669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2900" b="1">
                <a:solidFill>
                  <a:srgbClr val="132A32"/>
                </a:solidFill>
                <a:latin typeface="Aptos"/>
              </a:rP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24128"/>
            <a:ext cx="1069848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200" b="0">
                <a:solidFill>
                  <a:srgbClr val="667775"/>
                </a:solidFill>
                <a:latin typeface="Aptos"/>
              </a:rPr>
              <a:t>Ways the project could be extended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658368" cy="50292"/>
          </a:xfrm>
          <a:prstGeom prst="rect">
            <a:avLst/>
          </a:prstGeom>
          <a:solidFill>
            <a:srgbClr val="2C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667775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332720" cy="42062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8373A"/>
                </a:solidFill>
                <a:latin typeface="Aptos"/>
              </a:defRPr>
            </a:pPr>
            <a:r>
              <a:t>Add richer dietary preference and allergy filters.</a:t>
            </a:r>
          </a:p>
          <a:p>
            <a:pPr>
              <a:spcAft>
                <a:spcPts val="1500"/>
              </a:spcAft>
              <a:defRPr sz="1900">
                <a:solidFill>
                  <a:srgbClr val="28373A"/>
                </a:solidFill>
                <a:latin typeface="Aptos"/>
              </a:defRPr>
            </a:pPr>
            <a:r>
              <a:t>Provide a weekly calendar with editable meals and shopping lists.</a:t>
            </a:r>
          </a:p>
          <a:p>
            <a:pPr>
              <a:spcAft>
                <a:spcPts val="1500"/>
              </a:spcAft>
              <a:defRPr sz="1900">
                <a:solidFill>
                  <a:srgbClr val="28373A"/>
                </a:solidFill>
                <a:latin typeface="Aptos"/>
              </a:defRPr>
            </a:pPr>
            <a:r>
              <a:t>Include clear nutrition information and portion guidance where reliable data is available.</a:t>
            </a:r>
          </a:p>
          <a:p>
            <a:pPr>
              <a:spcAft>
                <a:spcPts val="1500"/>
              </a:spcAft>
              <a:defRPr sz="1900">
                <a:solidFill>
                  <a:srgbClr val="28373A"/>
                </a:solidFill>
                <a:latin typeface="Aptos"/>
              </a:defRPr>
            </a:pPr>
            <a:r>
              <a:t>Offer substitutions for ingredients and meals.</a:t>
            </a:r>
          </a:p>
          <a:p>
            <a:pPr>
              <a:spcAft>
                <a:spcPts val="1500"/>
              </a:spcAft>
              <a:defRPr sz="1900">
                <a:solidFill>
                  <a:srgbClr val="28373A"/>
                </a:solidFill>
                <a:latin typeface="Aptos"/>
              </a:defRPr>
            </a:pPr>
            <a:r>
              <a:t>Improve accessibility, mobile responsiveness and user feedback.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47548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800" b="1">
                <a:solidFill>
                  <a:srgbClr val="667775"/>
                </a:solidFill>
                <a:latin typeface="Aptos"/>
              </a:rPr>
              <a:t>NUTRILIFE  •  PROJECT 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27432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200" b="1">
                <a:solidFill>
                  <a:srgbClr val="E7B154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7772400" cy="1554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Making healthy
meal planning simpler.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429000"/>
            <a:ext cx="9052560" cy="10058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700" b="0">
                <a:solidFill>
                  <a:srgbClr val="D2E2DA"/>
                </a:solidFill>
                <a:latin typeface="Aptos"/>
              </a:rPr>
              <a:t>NutriLife brings the idea of personalized guidance into a practical web experience. By helping users connect their goals with everyday meal choices, it aims to make healthy planning more approachable and consistent.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715000"/>
            <a:ext cx="27432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600" b="1">
                <a:solidFill>
                  <a:srgbClr val="DEF2E8"/>
                </a:solidFill>
                <a:latin typeface="Apto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080760"/>
            <a:ext cx="1828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r>
              <a:rPr sz="1100" b="0">
                <a:solidFill>
                  <a:srgbClr val="B1C6BE"/>
                </a:solidFill>
                <a:latin typeface="Apto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